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Lexen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exend-bold.fntdata"/><Relationship Id="rId14" Type="http://schemas.openxmlformats.org/officeDocument/2006/relationships/font" Target="fonts/Lexe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c79a15d4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c79a15d4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d1ef842d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d1ef842d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5252e509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5252e509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e1d31c17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e1d31c17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c79a15d4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c79a15d4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c79a15d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c79a15d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553c783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553c783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pp.clickup.com/9017598806/v/li/901712157668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pp.clickup.com/t/86e0cny8c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Y71nBsX9NSjEcMIwG3UJ3a14FRmgJD-DCVALFmV6a8k/edit?usp=sharing" TargetMode="External"/><Relationship Id="rId4" Type="http://schemas.openxmlformats.org/officeDocument/2006/relationships/hyperlink" Target="https://docs.google.com/document/d/1SM8XpcVytMRnn8tpSrvILwJiL70PvKePdC3Fk-HqXbY/edit?usp=sharing" TargetMode="External"/><Relationship Id="rId5" Type="http://schemas.openxmlformats.org/officeDocument/2006/relationships/hyperlink" Target="https://www.figma.com/board/2HPZumNZuJW4UMEeXq4juo/ZohoScope?node-id=0-1&amp;t=6Eyx7ANTpi60qe9u-1" TargetMode="External"/><Relationship Id="rId6" Type="http://schemas.openxmlformats.org/officeDocument/2006/relationships/hyperlink" Target="https://docs.google.com/document/d/1se2Ky2amWYMFoutf0jHiffIYhxumd312_OzgaF-dpRY/edit?usp=shar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seamless.ai" TargetMode="External"/><Relationship Id="rId4" Type="http://schemas.openxmlformats.org/officeDocument/2006/relationships/hyperlink" Target="http://seamless.ai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pp.clickup.com/9017598806/v/li/90171215766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12494" y="2031375"/>
            <a:ext cx="432000" cy="1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19101" y="458375"/>
            <a:ext cx="418800" cy="193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625700" y="751525"/>
            <a:ext cx="418800" cy="193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12501" y="1257725"/>
            <a:ext cx="517500" cy="193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58" name="Google Shape;58;p13"/>
          <p:cNvSpPr/>
          <p:nvPr/>
        </p:nvSpPr>
        <p:spPr>
          <a:xfrm>
            <a:off x="621350" y="992473"/>
            <a:ext cx="414300" cy="19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13"/>
          <p:cNvGrpSpPr/>
          <p:nvPr/>
        </p:nvGrpSpPr>
        <p:grpSpPr>
          <a:xfrm>
            <a:off x="1736128" y="286375"/>
            <a:ext cx="7008975" cy="2279561"/>
            <a:chOff x="1736128" y="286375"/>
            <a:chExt cx="7008975" cy="2279561"/>
          </a:xfrm>
        </p:grpSpPr>
        <p:cxnSp>
          <p:nvCxnSpPr>
            <p:cNvPr id="60" name="Google Shape;60;p13"/>
            <p:cNvCxnSpPr/>
            <p:nvPr/>
          </p:nvCxnSpPr>
          <p:spPr>
            <a:xfrm rot="10800000">
              <a:off x="5732289" y="2977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 rot="10800000">
              <a:off x="8244768" y="29492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 rot="10800000">
              <a:off x="7773678" y="2977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 rot="10800000">
              <a:off x="8745103" y="29492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grpSp>
          <p:nvGrpSpPr>
            <p:cNvPr id="64" name="Google Shape;64;p13"/>
            <p:cNvGrpSpPr/>
            <p:nvPr/>
          </p:nvGrpSpPr>
          <p:grpSpPr>
            <a:xfrm>
              <a:off x="4161968" y="294925"/>
              <a:ext cx="1046050" cy="2271011"/>
              <a:chOff x="1170464" y="286375"/>
              <a:chExt cx="1046050" cy="2271011"/>
            </a:xfrm>
          </p:grpSpPr>
          <p:cxnSp>
            <p:nvCxnSpPr>
              <p:cNvPr id="65" name="Google Shape;65;p13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" name="Google Shape;66;p13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" name="Google Shape;67;p13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68" name="Google Shape;68;p13"/>
            <p:cNvCxnSpPr/>
            <p:nvPr/>
          </p:nvCxnSpPr>
          <p:spPr>
            <a:xfrm rot="10800000">
              <a:off x="3690878" y="2977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13"/>
            <p:cNvCxnSpPr/>
            <p:nvPr/>
          </p:nvCxnSpPr>
          <p:spPr>
            <a:xfrm rot="10800000">
              <a:off x="1736128" y="297782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13"/>
            <p:cNvGrpSpPr/>
            <p:nvPr/>
          </p:nvGrpSpPr>
          <p:grpSpPr>
            <a:xfrm>
              <a:off x="2173718" y="286375"/>
              <a:ext cx="1046050" cy="2271011"/>
              <a:chOff x="1170464" y="286375"/>
              <a:chExt cx="1046050" cy="2271011"/>
            </a:xfrm>
          </p:grpSpPr>
          <p:cxnSp>
            <p:nvCxnSpPr>
              <p:cNvPr id="71" name="Google Shape;71;p13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" name="Google Shape;72;p13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" name="Google Shape;73;p13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4" name="Google Shape;74;p13"/>
            <p:cNvGrpSpPr/>
            <p:nvPr/>
          </p:nvGrpSpPr>
          <p:grpSpPr>
            <a:xfrm>
              <a:off x="6203378" y="294925"/>
              <a:ext cx="1046050" cy="2271011"/>
              <a:chOff x="1170464" y="286375"/>
              <a:chExt cx="1046050" cy="2271011"/>
            </a:xfrm>
          </p:grpSpPr>
          <p:cxnSp>
            <p:nvCxnSpPr>
              <p:cNvPr id="75" name="Google Shape;75;p13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" name="Google Shape;76;p13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" name="Google Shape;77;p13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8" name="Google Shape;78;p13"/>
          <p:cNvSpPr/>
          <p:nvPr/>
        </p:nvSpPr>
        <p:spPr>
          <a:xfrm>
            <a:off x="5211428" y="2031375"/>
            <a:ext cx="2590800" cy="1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660944" y="2070898"/>
            <a:ext cx="335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AI SDR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841903" y="2716100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March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3433428" y="2688625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April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4765078" y="2688625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6096728" y="2716100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June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7481753" y="2716100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July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2701675" y="433152"/>
            <a:ext cx="2966700" cy="193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60645" y="497700"/>
            <a:ext cx="678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Zoho</a:t>
            </a:r>
            <a:r>
              <a:rPr b="1" lang="en" sz="600">
                <a:solidFill>
                  <a:schemeClr val="dk2"/>
                </a:solidFill>
              </a:rPr>
              <a:t> Integrations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206376" y="751525"/>
            <a:ext cx="3458400" cy="193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79207" y="788750"/>
            <a:ext cx="37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Aulintri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390626" y="1257725"/>
            <a:ext cx="1547100" cy="193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90" name="Google Shape;90;p13"/>
          <p:cNvSpPr txBox="1"/>
          <p:nvPr/>
        </p:nvSpPr>
        <p:spPr>
          <a:xfrm>
            <a:off x="659030" y="1300925"/>
            <a:ext cx="471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BI Platform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802225" y="0"/>
            <a:ext cx="139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March 2026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433426" y="481926"/>
            <a:ext cx="970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3"/>
              </a:rPr>
              <a:t>3/25/26 Zoho </a:t>
            </a:r>
            <a:r>
              <a:rPr lang="en" sz="600">
                <a:solidFill>
                  <a:srgbClr val="FF0000"/>
                </a:solidFill>
              </a:rPr>
              <a:t>to Scope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282139" y="2078996"/>
            <a:ext cx="188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3/25/26 AISDR blocked by Marketing/Sales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206376" y="992473"/>
            <a:ext cx="2026800" cy="19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60639" y="1036698"/>
            <a:ext cx="335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LeadGen</a:t>
            </a:r>
            <a:endParaRPr b="1" sz="600">
              <a:solidFill>
                <a:schemeClr val="dk2"/>
              </a:solidFill>
            </a:endParaRPr>
          </a:p>
        </p:txBody>
      </p:sp>
      <p:cxnSp>
        <p:nvCxnSpPr>
          <p:cNvPr id="96" name="Google Shape;96;p13"/>
          <p:cNvCxnSpPr/>
          <p:nvPr/>
        </p:nvCxnSpPr>
        <p:spPr>
          <a:xfrm>
            <a:off x="1733993" y="302850"/>
            <a:ext cx="7026000" cy="5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7" name="Google Shape;97;p13"/>
          <p:cNvSpPr txBox="1"/>
          <p:nvPr/>
        </p:nvSpPr>
        <p:spPr>
          <a:xfrm>
            <a:off x="546275" y="3278600"/>
            <a:ext cx="88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Minh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E1 - Shiv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E2 - Lakshita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E3 - Keshav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92579" y="3880225"/>
            <a:ext cx="79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TBD: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RakSiam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+2 Dev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290721" y="3409525"/>
            <a:ext cx="102300" cy="88800"/>
          </a:xfrm>
          <a:prstGeom prst="rect">
            <a:avLst/>
          </a:prstGeom>
          <a:solidFill>
            <a:srgbClr val="A2C4C9"/>
          </a:solidFill>
          <a:ln cap="flat" cmpd="sng" w="7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00" lIns="69400" spcFirstLastPara="1" rIns="69400" wrap="square" tIns="6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3"/>
          </a:p>
        </p:txBody>
      </p:sp>
      <p:sp>
        <p:nvSpPr>
          <p:cNvPr id="100" name="Google Shape;100;p13"/>
          <p:cNvSpPr/>
          <p:nvPr/>
        </p:nvSpPr>
        <p:spPr>
          <a:xfrm>
            <a:off x="289070" y="3518272"/>
            <a:ext cx="102300" cy="88800"/>
          </a:xfrm>
          <a:prstGeom prst="rect">
            <a:avLst/>
          </a:prstGeom>
          <a:solidFill>
            <a:srgbClr val="C9DAF8"/>
          </a:solidFill>
          <a:ln cap="flat" cmpd="sng" w="7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00" lIns="69400" spcFirstLastPara="1" rIns="69400" wrap="square" tIns="6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3"/>
          </a:p>
        </p:txBody>
      </p:sp>
      <p:sp>
        <p:nvSpPr>
          <p:cNvPr id="101" name="Google Shape;101;p13"/>
          <p:cNvSpPr/>
          <p:nvPr/>
        </p:nvSpPr>
        <p:spPr>
          <a:xfrm>
            <a:off x="289070" y="3633661"/>
            <a:ext cx="102300" cy="88800"/>
          </a:xfrm>
          <a:prstGeom prst="rect">
            <a:avLst/>
          </a:prstGeom>
          <a:solidFill>
            <a:srgbClr val="A2C4C9"/>
          </a:solidFill>
          <a:ln cap="flat" cmpd="sng" w="7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00" lIns="69400" spcFirstLastPara="1" rIns="69400" wrap="square" tIns="6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3"/>
          </a:p>
        </p:txBody>
      </p:sp>
      <p:sp>
        <p:nvSpPr>
          <p:cNvPr id="102" name="Google Shape;102;p13"/>
          <p:cNvSpPr/>
          <p:nvPr/>
        </p:nvSpPr>
        <p:spPr>
          <a:xfrm>
            <a:off x="289070" y="3743271"/>
            <a:ext cx="102300" cy="88800"/>
          </a:xfrm>
          <a:prstGeom prst="rect">
            <a:avLst/>
          </a:prstGeom>
          <a:solidFill>
            <a:srgbClr val="D5A6BD"/>
          </a:solidFill>
          <a:ln cap="flat" cmpd="sng" w="7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00" lIns="69400" spcFirstLastPara="1" rIns="69400" wrap="square" tIns="6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3"/>
          </a:p>
        </p:txBody>
      </p:sp>
      <p:sp>
        <p:nvSpPr>
          <p:cNvPr id="103" name="Google Shape;103;p13"/>
          <p:cNvSpPr/>
          <p:nvPr/>
        </p:nvSpPr>
        <p:spPr>
          <a:xfrm>
            <a:off x="429982" y="3633661"/>
            <a:ext cx="102300" cy="88800"/>
          </a:xfrm>
          <a:prstGeom prst="rect">
            <a:avLst/>
          </a:prstGeom>
          <a:solidFill>
            <a:srgbClr val="F4CCCC"/>
          </a:solidFill>
          <a:ln cap="flat" cmpd="sng" w="7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00" lIns="69400" spcFirstLastPara="1" rIns="69400" wrap="square" tIns="6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3"/>
          </a:p>
        </p:txBody>
      </p:sp>
      <p:sp>
        <p:nvSpPr>
          <p:cNvPr id="104" name="Google Shape;104;p13"/>
          <p:cNvSpPr txBox="1"/>
          <p:nvPr/>
        </p:nvSpPr>
        <p:spPr>
          <a:xfrm>
            <a:off x="232325" y="498144"/>
            <a:ext cx="37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E2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232325" y="786135"/>
            <a:ext cx="37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E1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232325" y="1034859"/>
            <a:ext cx="37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E2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232325" y="1282556"/>
            <a:ext cx="374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E3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4" y="-60365"/>
            <a:ext cx="8490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7609"/>
              <a:buNone/>
            </a:pPr>
            <a:r>
              <a:rPr lang="en" sz="920">
                <a:highlight>
                  <a:srgbClr val="A2C4C9"/>
                </a:highlight>
              </a:rPr>
              <a:t>Aulintri</a:t>
            </a:r>
            <a:endParaRPr sz="920">
              <a:highlight>
                <a:srgbClr val="A2C4C9"/>
              </a:highlight>
            </a:endParaRPr>
          </a:p>
        </p:txBody>
      </p:sp>
      <p:grpSp>
        <p:nvGrpSpPr>
          <p:cNvPr id="113" name="Google Shape;113;p14"/>
          <p:cNvGrpSpPr/>
          <p:nvPr/>
        </p:nvGrpSpPr>
        <p:grpSpPr>
          <a:xfrm>
            <a:off x="-991846" y="395912"/>
            <a:ext cx="7008975" cy="4327974"/>
            <a:chOff x="1736128" y="286375"/>
            <a:chExt cx="7008975" cy="2279561"/>
          </a:xfrm>
        </p:grpSpPr>
        <p:cxnSp>
          <p:nvCxnSpPr>
            <p:cNvPr id="114" name="Google Shape;114;p14"/>
            <p:cNvCxnSpPr/>
            <p:nvPr/>
          </p:nvCxnSpPr>
          <p:spPr>
            <a:xfrm rot="10800000">
              <a:off x="5732289" y="297786"/>
              <a:ext cx="0" cy="2265300"/>
            </a:xfrm>
            <a:prstGeom prst="straightConnector1">
              <a:avLst/>
            </a:prstGeom>
            <a:noFill/>
            <a:ln cap="flat" cmpd="sng" w="28575">
              <a:solidFill>
                <a:srgbClr val="999999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115" name="Google Shape;115;p14"/>
            <p:cNvCxnSpPr/>
            <p:nvPr/>
          </p:nvCxnSpPr>
          <p:spPr>
            <a:xfrm rot="10800000">
              <a:off x="8244768" y="29492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p14"/>
            <p:cNvCxnSpPr/>
            <p:nvPr/>
          </p:nvCxnSpPr>
          <p:spPr>
            <a:xfrm rot="10800000">
              <a:off x="7773678" y="2977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14"/>
            <p:cNvCxnSpPr/>
            <p:nvPr/>
          </p:nvCxnSpPr>
          <p:spPr>
            <a:xfrm rot="10800000">
              <a:off x="8745103" y="29492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14"/>
            <p:cNvGrpSpPr/>
            <p:nvPr/>
          </p:nvGrpSpPr>
          <p:grpSpPr>
            <a:xfrm>
              <a:off x="4161968" y="294925"/>
              <a:ext cx="1046050" cy="2271011"/>
              <a:chOff x="1170464" y="286375"/>
              <a:chExt cx="1046050" cy="2271011"/>
            </a:xfrm>
          </p:grpSpPr>
          <p:cxnSp>
            <p:nvCxnSpPr>
              <p:cNvPr id="119" name="Google Shape;119;p14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" name="Google Shape;120;p14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22" name="Google Shape;122;p14"/>
            <p:cNvCxnSpPr/>
            <p:nvPr/>
          </p:nvCxnSpPr>
          <p:spPr>
            <a:xfrm rot="10800000">
              <a:off x="3690878" y="2977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14"/>
            <p:cNvCxnSpPr/>
            <p:nvPr/>
          </p:nvCxnSpPr>
          <p:spPr>
            <a:xfrm rot="10800000">
              <a:off x="1736128" y="297782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4" name="Google Shape;124;p14"/>
            <p:cNvGrpSpPr/>
            <p:nvPr/>
          </p:nvGrpSpPr>
          <p:grpSpPr>
            <a:xfrm>
              <a:off x="2173718" y="286375"/>
              <a:ext cx="1046050" cy="2271011"/>
              <a:chOff x="1170464" y="286375"/>
              <a:chExt cx="1046050" cy="2271011"/>
            </a:xfrm>
          </p:grpSpPr>
          <p:cxnSp>
            <p:nvCxnSpPr>
              <p:cNvPr id="125" name="Google Shape;125;p14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14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14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8" name="Google Shape;128;p14"/>
            <p:cNvGrpSpPr/>
            <p:nvPr/>
          </p:nvGrpSpPr>
          <p:grpSpPr>
            <a:xfrm>
              <a:off x="6203378" y="294925"/>
              <a:ext cx="1046050" cy="2271011"/>
              <a:chOff x="1170464" y="286375"/>
              <a:chExt cx="1046050" cy="2271011"/>
            </a:xfrm>
          </p:grpSpPr>
          <p:cxnSp>
            <p:nvCxnSpPr>
              <p:cNvPr id="129" name="Google Shape;129;p14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32" name="Google Shape;132;p14"/>
          <p:cNvSpPr txBox="1"/>
          <p:nvPr/>
        </p:nvSpPr>
        <p:spPr>
          <a:xfrm>
            <a:off x="358153" y="57192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March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4325942" y="57192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April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-1521588" y="433942"/>
            <a:ext cx="7538700" cy="193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p14"/>
          <p:cNvCxnSpPr/>
          <p:nvPr/>
        </p:nvCxnSpPr>
        <p:spPr>
          <a:xfrm>
            <a:off x="-993969" y="412367"/>
            <a:ext cx="7026000" cy="5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6" name="Google Shape;136;p14"/>
          <p:cNvSpPr/>
          <p:nvPr/>
        </p:nvSpPr>
        <p:spPr>
          <a:xfrm>
            <a:off x="1411726" y="627142"/>
            <a:ext cx="615000" cy="1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3"/>
              </a:rPr>
              <a:t>AWS Back End</a:t>
            </a:r>
            <a:endParaRPr sz="600"/>
          </a:p>
        </p:txBody>
      </p:sp>
      <p:sp>
        <p:nvSpPr>
          <p:cNvPr id="137" name="Google Shape;137;p14"/>
          <p:cNvSpPr/>
          <p:nvPr/>
        </p:nvSpPr>
        <p:spPr>
          <a:xfrm>
            <a:off x="2019038" y="627142"/>
            <a:ext cx="10317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VPC, </a:t>
            </a:r>
            <a:r>
              <a:rPr lang="en" sz="400" strike="sngStrike"/>
              <a:t>Cognito,</a:t>
            </a:r>
            <a:r>
              <a:rPr lang="en" sz="400"/>
              <a:t> Custom Auth</a:t>
            </a:r>
            <a:r>
              <a:rPr lang="en" sz="400"/>
              <a:t>, Private route, security groups</a:t>
            </a:r>
            <a:endParaRPr sz="400"/>
          </a:p>
        </p:txBody>
      </p:sp>
      <p:sp>
        <p:nvSpPr>
          <p:cNvPr id="138" name="Google Shape;138;p14"/>
          <p:cNvSpPr/>
          <p:nvPr/>
        </p:nvSpPr>
        <p:spPr>
          <a:xfrm>
            <a:off x="2019038" y="857292"/>
            <a:ext cx="10317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UI Design, UX, Super Admin accounts</a:t>
            </a:r>
            <a:endParaRPr sz="400"/>
          </a:p>
        </p:txBody>
      </p:sp>
      <p:sp>
        <p:nvSpPr>
          <p:cNvPr id="139" name="Google Shape;139;p14"/>
          <p:cNvSpPr/>
          <p:nvPr/>
        </p:nvSpPr>
        <p:spPr>
          <a:xfrm>
            <a:off x="2019038" y="1087442"/>
            <a:ext cx="10317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Prepping plan to map out Dev, UAT, Prod </a:t>
            </a:r>
            <a:endParaRPr sz="400"/>
          </a:p>
        </p:txBody>
      </p:sp>
      <p:sp>
        <p:nvSpPr>
          <p:cNvPr id="140" name="Google Shape;140;p14"/>
          <p:cNvSpPr txBox="1"/>
          <p:nvPr/>
        </p:nvSpPr>
        <p:spPr>
          <a:xfrm>
            <a:off x="-886061" y="155717"/>
            <a:ext cx="37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1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32601" y="155717"/>
            <a:ext cx="37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2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1102964" y="155717"/>
            <a:ext cx="37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3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2006564" y="155717"/>
            <a:ext cx="37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4</a:t>
            </a:r>
            <a:endParaRPr sz="700">
              <a:solidFill>
                <a:schemeClr val="dk2"/>
              </a:solidFill>
            </a:endParaRPr>
          </a:p>
        </p:txBody>
      </p:sp>
      <p:grpSp>
        <p:nvGrpSpPr>
          <p:cNvPr id="144" name="Google Shape;144;p14"/>
          <p:cNvGrpSpPr/>
          <p:nvPr/>
        </p:nvGrpSpPr>
        <p:grpSpPr>
          <a:xfrm>
            <a:off x="3120513" y="155717"/>
            <a:ext cx="3266725" cy="292500"/>
            <a:chOff x="1994300" y="198600"/>
            <a:chExt cx="3266725" cy="292500"/>
          </a:xfrm>
        </p:grpSpPr>
        <p:sp>
          <p:nvSpPr>
            <p:cNvPr id="145" name="Google Shape;145;p14"/>
            <p:cNvSpPr txBox="1"/>
            <p:nvPr/>
          </p:nvSpPr>
          <p:spPr>
            <a:xfrm>
              <a:off x="1994300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1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146" name="Google Shape;146;p14"/>
            <p:cNvSpPr txBox="1"/>
            <p:nvPr/>
          </p:nvSpPr>
          <p:spPr>
            <a:xfrm>
              <a:off x="2912963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2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3983325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3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148" name="Google Shape;148;p14"/>
            <p:cNvSpPr txBox="1"/>
            <p:nvPr/>
          </p:nvSpPr>
          <p:spPr>
            <a:xfrm>
              <a:off x="4886925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4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149" name="Google Shape;149;p14"/>
          <p:cNvSpPr/>
          <p:nvPr/>
        </p:nvSpPr>
        <p:spPr>
          <a:xfrm>
            <a:off x="2481105" y="1317600"/>
            <a:ext cx="9369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/>
              <a:t>AWS Infrastructure Setup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(VPC, RDS, S3, Security, NAT)</a:t>
            </a:r>
            <a:endParaRPr sz="400"/>
          </a:p>
        </p:txBody>
      </p:sp>
      <p:sp>
        <p:nvSpPr>
          <p:cNvPr id="150" name="Google Shape;150;p14"/>
          <p:cNvSpPr/>
          <p:nvPr/>
        </p:nvSpPr>
        <p:spPr>
          <a:xfrm>
            <a:off x="2481105" y="1547750"/>
            <a:ext cx="9369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/>
              <a:t>Authentication &amp; CI/CD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(Cognito, Custom Auth, RBAC, Pipelines)</a:t>
            </a:r>
            <a:endParaRPr sz="400"/>
          </a:p>
        </p:txBody>
      </p:sp>
      <p:sp>
        <p:nvSpPr>
          <p:cNvPr id="151" name="Google Shape;151;p14"/>
          <p:cNvSpPr/>
          <p:nvPr/>
        </p:nvSpPr>
        <p:spPr>
          <a:xfrm>
            <a:off x="2481104" y="1777900"/>
            <a:ext cx="9960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/>
              <a:t>Backend &amp; Logic Engine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(Eligibility, Routing, Processing)</a:t>
            </a:r>
            <a:endParaRPr sz="400"/>
          </a:p>
        </p:txBody>
      </p:sp>
      <p:sp>
        <p:nvSpPr>
          <p:cNvPr id="152" name="Google Shape;152;p14"/>
          <p:cNvSpPr/>
          <p:nvPr/>
        </p:nvSpPr>
        <p:spPr>
          <a:xfrm>
            <a:off x="2481105" y="2008050"/>
            <a:ext cx="9369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/>
              <a:t>UI Foundation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(Dashboard, Admin Panel, UX)</a:t>
            </a:r>
            <a:endParaRPr sz="400"/>
          </a:p>
        </p:txBody>
      </p:sp>
      <p:sp>
        <p:nvSpPr>
          <p:cNvPr id="153" name="Google Shape;153;p14"/>
          <p:cNvSpPr/>
          <p:nvPr/>
        </p:nvSpPr>
        <p:spPr>
          <a:xfrm>
            <a:off x="3050729" y="2238200"/>
            <a:ext cx="14721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400"/>
            </a:br>
            <a:r>
              <a:rPr lang="en" sz="400"/>
              <a:t>Generation (PDF Templates, Versioning, Storage) - Letterhead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54" name="Google Shape;154;p14"/>
          <p:cNvSpPr/>
          <p:nvPr/>
        </p:nvSpPr>
        <p:spPr>
          <a:xfrm>
            <a:off x="3050730" y="2468350"/>
            <a:ext cx="936900" cy="19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400"/>
            </a:br>
            <a:r>
              <a:rPr lang="en" sz="400"/>
              <a:t>Email Delivery</a:t>
            </a:r>
            <a:endParaRPr sz="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/>
              <a:t>(AWS SES, Notifications)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55" name="Google Shape;155;p14"/>
          <p:cNvSpPr/>
          <p:nvPr/>
        </p:nvSpPr>
        <p:spPr>
          <a:xfrm>
            <a:off x="3050730" y="2698500"/>
            <a:ext cx="9369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400"/>
            </a:br>
            <a:r>
              <a:rPr lang="en" sz="400"/>
              <a:t>Customer Dashboard (Recovery Tracking, Deadline Tracking)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56" name="Google Shape;156;p14"/>
          <p:cNvSpPr/>
          <p:nvPr/>
        </p:nvSpPr>
        <p:spPr>
          <a:xfrm>
            <a:off x="3050728" y="2928650"/>
            <a:ext cx="18738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400"/>
            </a:br>
            <a:r>
              <a:rPr lang="en" sz="400"/>
              <a:t>Audit &amp; CRM Integration (Audit Modal, Calendly, CRM Links)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57" name="Google Shape;157;p14"/>
          <p:cNvSpPr/>
          <p:nvPr/>
        </p:nvSpPr>
        <p:spPr>
          <a:xfrm>
            <a:off x="3987630" y="4079400"/>
            <a:ext cx="936900" cy="193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400"/>
            </a:br>
            <a:r>
              <a:rPr lang="en" sz="400"/>
              <a:t>Security &amp; Hardening (Rate Limiting, HTTPS, Protection)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58" name="Google Shape;158;p14"/>
          <p:cNvSpPr/>
          <p:nvPr/>
        </p:nvSpPr>
        <p:spPr>
          <a:xfrm>
            <a:off x="3987630" y="3388950"/>
            <a:ext cx="936900" cy="19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400"/>
            </a:br>
            <a:r>
              <a:rPr lang="en" sz="400"/>
              <a:t>Billing Integration</a:t>
            </a:r>
            <a:endParaRPr sz="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/>
              <a:t>(Zoho API, Invoicing)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59" name="Google Shape;159;p14"/>
          <p:cNvSpPr/>
          <p:nvPr/>
        </p:nvSpPr>
        <p:spPr>
          <a:xfrm>
            <a:off x="3987630" y="3619100"/>
            <a:ext cx="936900" cy="193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400"/>
            </a:br>
            <a:r>
              <a:rPr lang="en" sz="400"/>
              <a:t>Monitoring &amp; Logging</a:t>
            </a:r>
            <a:endParaRPr sz="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/>
              <a:t>(Sentry, Logs, Alerts)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60" name="Google Shape;160;p14"/>
          <p:cNvSpPr/>
          <p:nvPr/>
        </p:nvSpPr>
        <p:spPr>
          <a:xfrm>
            <a:off x="3987630" y="3849250"/>
            <a:ext cx="936900" cy="1932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400"/>
            </a:br>
            <a:r>
              <a:rPr lang="en" sz="400"/>
              <a:t>Onboarding &amp; Ops Dashboard (User Flow, BC Ops Dashboard, UI Refinement)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161" name="Google Shape;161;p14"/>
          <p:cNvSpPr/>
          <p:nvPr/>
        </p:nvSpPr>
        <p:spPr>
          <a:xfrm>
            <a:off x="3489629" y="1777900"/>
            <a:ext cx="9960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"/>
              <a:t>Backend &amp; Logic Engine QA</a:t>
            </a:r>
            <a:endParaRPr sz="400"/>
          </a:p>
        </p:txBody>
      </p:sp>
      <p:cxnSp>
        <p:nvCxnSpPr>
          <p:cNvPr id="162" name="Google Shape;162;p14"/>
          <p:cNvCxnSpPr/>
          <p:nvPr/>
        </p:nvCxnSpPr>
        <p:spPr>
          <a:xfrm rot="10800000">
            <a:off x="13026079" y="464470"/>
            <a:ext cx="0" cy="4300899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163" name="Google Shape;163;p14"/>
          <p:cNvGrpSpPr/>
          <p:nvPr/>
        </p:nvGrpSpPr>
        <p:grpSpPr>
          <a:xfrm>
            <a:off x="8442943" y="464470"/>
            <a:ext cx="500336" cy="4300899"/>
            <a:chOff x="1170464" y="286375"/>
            <a:chExt cx="500336" cy="2265300"/>
          </a:xfrm>
        </p:grpSpPr>
        <p:cxnSp>
          <p:nvCxnSpPr>
            <p:cNvPr id="164" name="Google Shape;164;p14"/>
            <p:cNvCxnSpPr/>
            <p:nvPr/>
          </p:nvCxnSpPr>
          <p:spPr>
            <a:xfrm rot="10800000">
              <a:off x="1170464" y="28637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14"/>
            <p:cNvCxnSpPr/>
            <p:nvPr/>
          </p:nvCxnSpPr>
          <p:spPr>
            <a:xfrm rot="10800000">
              <a:off x="1670800" y="28637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6" name="Google Shape;166;p14"/>
          <p:cNvCxnSpPr/>
          <p:nvPr/>
        </p:nvCxnSpPr>
        <p:spPr>
          <a:xfrm rot="10800000">
            <a:off x="7971854" y="469902"/>
            <a:ext cx="0" cy="4300899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4"/>
          <p:cNvCxnSpPr/>
          <p:nvPr/>
        </p:nvCxnSpPr>
        <p:spPr>
          <a:xfrm rot="10800000">
            <a:off x="6017104" y="469895"/>
            <a:ext cx="0" cy="4300899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168" name="Google Shape;168;p14"/>
          <p:cNvGrpSpPr/>
          <p:nvPr/>
        </p:nvGrpSpPr>
        <p:grpSpPr>
          <a:xfrm>
            <a:off x="6454693" y="448237"/>
            <a:ext cx="1046050" cy="4311741"/>
            <a:chOff x="1170464" y="286375"/>
            <a:chExt cx="1046050" cy="2271011"/>
          </a:xfrm>
        </p:grpSpPr>
        <p:cxnSp>
          <p:nvCxnSpPr>
            <p:cNvPr id="169" name="Google Shape;169;p14"/>
            <p:cNvCxnSpPr/>
            <p:nvPr/>
          </p:nvCxnSpPr>
          <p:spPr>
            <a:xfrm rot="10800000">
              <a:off x="1170464" y="28637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14"/>
            <p:cNvCxnSpPr/>
            <p:nvPr/>
          </p:nvCxnSpPr>
          <p:spPr>
            <a:xfrm rot="10800000">
              <a:off x="1670800" y="28637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14"/>
            <p:cNvCxnSpPr/>
            <p:nvPr/>
          </p:nvCxnSpPr>
          <p:spPr>
            <a:xfrm rot="10800000">
              <a:off x="2216514" y="2920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172" name="Google Shape;172;p14"/>
          <p:cNvSpPr txBox="1"/>
          <p:nvPr/>
        </p:nvSpPr>
        <p:spPr>
          <a:xfrm>
            <a:off x="8217127" y="31030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May</a:t>
            </a:r>
            <a:endParaRPr sz="1000">
              <a:solidFill>
                <a:schemeClr val="dk2"/>
              </a:solidFill>
            </a:endParaRPr>
          </a:p>
        </p:txBody>
      </p:sp>
      <p:grpSp>
        <p:nvGrpSpPr>
          <p:cNvPr id="173" name="Google Shape;173;p14"/>
          <p:cNvGrpSpPr/>
          <p:nvPr/>
        </p:nvGrpSpPr>
        <p:grpSpPr>
          <a:xfrm>
            <a:off x="7011698" y="129555"/>
            <a:ext cx="2363125" cy="292500"/>
            <a:chOff x="1994300" y="198600"/>
            <a:chExt cx="2363125" cy="292500"/>
          </a:xfrm>
        </p:grpSpPr>
        <p:sp>
          <p:nvSpPr>
            <p:cNvPr id="174" name="Google Shape;174;p14"/>
            <p:cNvSpPr txBox="1"/>
            <p:nvPr/>
          </p:nvSpPr>
          <p:spPr>
            <a:xfrm>
              <a:off x="1994300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1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175" name="Google Shape;175;p14"/>
            <p:cNvSpPr txBox="1"/>
            <p:nvPr/>
          </p:nvSpPr>
          <p:spPr>
            <a:xfrm>
              <a:off x="2912963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2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176" name="Google Shape;176;p14"/>
            <p:cNvSpPr txBox="1"/>
            <p:nvPr/>
          </p:nvSpPr>
          <p:spPr>
            <a:xfrm>
              <a:off x="3983325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3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177" name="Google Shape;177;p14"/>
          <p:cNvSpPr/>
          <p:nvPr/>
        </p:nvSpPr>
        <p:spPr>
          <a:xfrm>
            <a:off x="4152380" y="4493725"/>
            <a:ext cx="936900" cy="1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Manual Entry Flow (New Feature Request from compliance )</a:t>
            </a:r>
            <a:endParaRPr sz="400"/>
          </a:p>
        </p:txBody>
      </p:sp>
      <p:sp>
        <p:nvSpPr>
          <p:cNvPr id="178" name="Google Shape;178;p14"/>
          <p:cNvSpPr/>
          <p:nvPr/>
        </p:nvSpPr>
        <p:spPr>
          <a:xfrm>
            <a:off x="3987630" y="4300525"/>
            <a:ext cx="936900" cy="193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Review PSC Platform </a:t>
            </a:r>
            <a:endParaRPr sz="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/>
          <p:nvPr>
            <p:ph idx="1" type="body"/>
          </p:nvPr>
        </p:nvSpPr>
        <p:spPr>
          <a:xfrm>
            <a:off x="151375" y="232125"/>
            <a:ext cx="3938100" cy="49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Week: 30 Mar - 4 Apr 2026 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" sz="700">
                <a:solidFill>
                  <a:schemeClr val="dk1"/>
                </a:solidFill>
              </a:rPr>
              <a:t>AWS Infrastructure &amp; Setup: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Configured VPC, RDS (PostgreSQL), S3, NAT Gateway, security groups, and private routing. Completed core AWS environment setup.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" sz="700">
                <a:solidFill>
                  <a:schemeClr val="dk1"/>
                </a:solidFill>
              </a:rPr>
              <a:t>Authentication &amp; Access Control: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Implemented Cognito / Custom Authentication with basic RBAC for frontend and backend.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" sz="700">
                <a:solidFill>
                  <a:schemeClr val="dk1"/>
                </a:solidFill>
              </a:rPr>
              <a:t>CI/CD &amp; Dev Environment: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Set up CI/CD pipelines and GitHub workflows development environment setup in progress.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" sz="700">
                <a:solidFill>
                  <a:schemeClr val="dk1"/>
                </a:solidFill>
              </a:rPr>
              <a:t>Backend &amp; System Setup: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Initialized backend structure, defined APIs/service  and connected processing workflows.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" sz="700">
                <a:solidFill>
                  <a:schemeClr val="dk1"/>
                </a:solidFill>
              </a:rPr>
              <a:t>Logic &amp; Processing (Week 2 Core):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Implemented eligibility logic, duty calculation, document routing, and initial AI classification setup.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" sz="700">
                <a:solidFill>
                  <a:schemeClr val="dk1"/>
                </a:solidFill>
              </a:rPr>
              <a:t>Frontend &amp; UI Development: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Built initial UI based on prototype, improved UX (animations, skeleton screens), and implemented Super Admin dashboard.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" sz="700">
                <a:solidFill>
                  <a:schemeClr val="dk1"/>
                </a:solidFill>
              </a:rPr>
              <a:t>Customer Dashboard (Progress):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Completed recovery tracking and deadline countdown features audit modal in progress (CRM + Calendly integration).</a:t>
            </a:r>
            <a:endParaRPr b="1" sz="700"/>
          </a:p>
        </p:txBody>
      </p:sp>
      <p:sp>
        <p:nvSpPr>
          <p:cNvPr id="184" name="Google Shape;184;p15"/>
          <p:cNvSpPr txBox="1"/>
          <p:nvPr>
            <p:ph type="title"/>
          </p:nvPr>
        </p:nvSpPr>
        <p:spPr>
          <a:xfrm>
            <a:off x="-79950" y="-60365"/>
            <a:ext cx="8490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7609"/>
              <a:buNone/>
            </a:pPr>
            <a:r>
              <a:rPr lang="en" sz="920">
                <a:highlight>
                  <a:srgbClr val="A2C4C9"/>
                </a:highlight>
              </a:rPr>
              <a:t>Aulintri</a:t>
            </a:r>
            <a:endParaRPr sz="920">
              <a:highlight>
                <a:srgbClr val="A2C4C9"/>
              </a:highlight>
            </a:endParaRPr>
          </a:p>
        </p:txBody>
      </p:sp>
      <p:sp>
        <p:nvSpPr>
          <p:cNvPr id="185" name="Google Shape;185;p15"/>
          <p:cNvSpPr txBox="1"/>
          <p:nvPr>
            <p:ph idx="1" type="body"/>
          </p:nvPr>
        </p:nvSpPr>
        <p:spPr>
          <a:xfrm>
            <a:off x="4373700" y="232125"/>
            <a:ext cx="3938100" cy="49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Week: 6 Apr - 10 Apr 2026 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rgbClr val="1B263B"/>
              </a:buClr>
              <a:buSzPts val="700"/>
              <a:buFont typeface="Lexend"/>
              <a:buChar char="●"/>
            </a:pPr>
            <a:r>
              <a:rPr b="1" lang="en" sz="700">
                <a:solidFill>
                  <a:schemeClr val="dk1"/>
                </a:solidFill>
              </a:rPr>
              <a:t>CI/CD &amp; Deployment: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Optimized AWS ECS pipeline (reduced timeout), handled deployment updates.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700"/>
              <a:buFont typeface="Lexend"/>
              <a:buChar char="●"/>
            </a:pPr>
            <a:r>
              <a:rPr b="1" lang="en" sz="700">
                <a:solidFill>
                  <a:schemeClr val="dk1"/>
                </a:solidFill>
              </a:rPr>
              <a:t>Bug Fixes &amp; Debugging: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Working on document upload flow issues and stability improvements.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700"/>
              <a:buFont typeface="Lexend"/>
              <a:buChar char="●"/>
            </a:pPr>
            <a:r>
              <a:rPr b="1" lang="en" sz="700">
                <a:solidFill>
                  <a:schemeClr val="dk1"/>
                </a:solidFill>
              </a:rPr>
              <a:t>Architecture &amp; Access Control: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Defined user journeys by role (RBAC / ABAC).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700"/>
              <a:buFont typeface="Lexend"/>
              <a:buChar char="●"/>
            </a:pPr>
            <a:r>
              <a:rPr b="1" lang="en" sz="700">
                <a:solidFill>
                  <a:schemeClr val="dk1"/>
                </a:solidFill>
              </a:rPr>
              <a:t>Process &amp; Documentation: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Prepared Manual Entry Flow (PSC) document for compliance review and QA kickoff.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700"/>
              <a:buFont typeface="Lexend"/>
              <a:buChar char="●"/>
            </a:pPr>
            <a:r>
              <a:rPr b="1" lang="en" sz="700">
                <a:solidFill>
                  <a:schemeClr val="dk1"/>
                </a:solidFill>
              </a:rPr>
              <a:t>Frontend &amp; Admin UI: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Enhancing Super Admin UI and improving usability.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700"/>
              <a:buFont typeface="Lexend"/>
              <a:buChar char="●"/>
            </a:pPr>
            <a:r>
              <a:rPr b="1" lang="en" sz="700">
                <a:solidFill>
                  <a:schemeClr val="dk1"/>
                </a:solidFill>
              </a:rPr>
              <a:t>Research &amp; Planning: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Working on Aulintri SaaS module mapping and system structure (in progress).</a:t>
            </a:r>
            <a:br>
              <a:rPr lang="en" sz="700">
                <a:solidFill>
                  <a:schemeClr val="dk1"/>
                </a:solidFill>
              </a:rPr>
            </a:b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700"/>
              <a:buFont typeface="Lexend"/>
              <a:buChar char="●"/>
            </a:pPr>
            <a:r>
              <a:rPr b="1" lang="en" sz="700">
                <a:solidFill>
                  <a:schemeClr val="dk1"/>
                </a:solidFill>
              </a:rPr>
              <a:t>Sprint Progress: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Continuing work on Week 4 (Security, Billing &amp; Hardening).</a:t>
            </a:r>
            <a:br>
              <a:rPr lang="en" sz="700">
                <a:solidFill>
                  <a:srgbClr val="1B263B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700">
              <a:solidFill>
                <a:srgbClr val="1B26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/>
          <p:nvPr>
            <p:ph idx="1" type="body"/>
          </p:nvPr>
        </p:nvSpPr>
        <p:spPr>
          <a:xfrm>
            <a:off x="151375" y="232125"/>
            <a:ext cx="3938100" cy="49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Week: 13 Apr - 17 Apr 2026 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" sz="700">
                <a:solidFill>
                  <a:schemeClr val="dk1"/>
                </a:solidFill>
              </a:rPr>
              <a:t>Research &amp; Planning:</a:t>
            </a:r>
            <a:br>
              <a:rPr b="1"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Working on Aulintri SaaS module mapping and system structure (in progress).</a:t>
            </a:r>
            <a:endParaRPr b="1" sz="700"/>
          </a:p>
        </p:txBody>
      </p:sp>
      <p:sp>
        <p:nvSpPr>
          <p:cNvPr id="191" name="Google Shape;191;p16"/>
          <p:cNvSpPr txBox="1"/>
          <p:nvPr>
            <p:ph type="title"/>
          </p:nvPr>
        </p:nvSpPr>
        <p:spPr>
          <a:xfrm>
            <a:off x="-79950" y="-60365"/>
            <a:ext cx="8490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7609"/>
              <a:buNone/>
            </a:pPr>
            <a:r>
              <a:rPr lang="en" sz="920">
                <a:highlight>
                  <a:srgbClr val="A2C4C9"/>
                </a:highlight>
              </a:rPr>
              <a:t>Aulintri</a:t>
            </a:r>
            <a:endParaRPr sz="920">
              <a:highlight>
                <a:srgbClr val="A2C4C9"/>
              </a:highlight>
            </a:endParaRPr>
          </a:p>
        </p:txBody>
      </p:sp>
      <p:sp>
        <p:nvSpPr>
          <p:cNvPr id="192" name="Google Shape;192;p16"/>
          <p:cNvSpPr txBox="1"/>
          <p:nvPr>
            <p:ph idx="1" type="body"/>
          </p:nvPr>
        </p:nvSpPr>
        <p:spPr>
          <a:xfrm>
            <a:off x="4373700" y="232125"/>
            <a:ext cx="3938100" cy="49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</a:rPr>
              <a:t>Week: 20 Apr - 24 Apr 2026 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rgbClr val="1B263B"/>
              </a:buClr>
              <a:buSzPts val="700"/>
              <a:buFont typeface="Lexend"/>
              <a:buChar char="●"/>
            </a:pPr>
            <a:br>
              <a:rPr lang="en" sz="700">
                <a:solidFill>
                  <a:srgbClr val="1B263B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700">
              <a:solidFill>
                <a:srgbClr val="1B263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-3" y="-60375"/>
            <a:ext cx="14415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highlight>
                  <a:srgbClr val="C9DAF8"/>
                </a:highlight>
              </a:rPr>
              <a:t>Zoho Integrations</a:t>
            </a:r>
            <a:endParaRPr sz="900"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900">
              <a:highlight>
                <a:srgbClr val="A2C4C9"/>
              </a:highlight>
            </a:endParaRPr>
          </a:p>
        </p:txBody>
      </p:sp>
      <p:grpSp>
        <p:nvGrpSpPr>
          <p:cNvPr id="198" name="Google Shape;198;p17"/>
          <p:cNvGrpSpPr/>
          <p:nvPr/>
        </p:nvGrpSpPr>
        <p:grpSpPr>
          <a:xfrm>
            <a:off x="-991846" y="395912"/>
            <a:ext cx="7008975" cy="4327974"/>
            <a:chOff x="1736128" y="286375"/>
            <a:chExt cx="7008975" cy="2279561"/>
          </a:xfrm>
        </p:grpSpPr>
        <p:cxnSp>
          <p:nvCxnSpPr>
            <p:cNvPr id="199" name="Google Shape;199;p17"/>
            <p:cNvCxnSpPr/>
            <p:nvPr/>
          </p:nvCxnSpPr>
          <p:spPr>
            <a:xfrm rot="10800000">
              <a:off x="5732289" y="297786"/>
              <a:ext cx="0" cy="2265300"/>
            </a:xfrm>
            <a:prstGeom prst="straightConnector1">
              <a:avLst/>
            </a:prstGeom>
            <a:noFill/>
            <a:ln cap="flat" cmpd="sng" w="28575">
              <a:solidFill>
                <a:srgbClr val="999999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17"/>
            <p:cNvCxnSpPr/>
            <p:nvPr/>
          </p:nvCxnSpPr>
          <p:spPr>
            <a:xfrm rot="10800000">
              <a:off x="8244768" y="29492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17"/>
            <p:cNvCxnSpPr/>
            <p:nvPr/>
          </p:nvCxnSpPr>
          <p:spPr>
            <a:xfrm rot="10800000">
              <a:off x="7773678" y="2977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17"/>
            <p:cNvCxnSpPr/>
            <p:nvPr/>
          </p:nvCxnSpPr>
          <p:spPr>
            <a:xfrm rot="10800000">
              <a:off x="8745103" y="29492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17"/>
            <p:cNvGrpSpPr/>
            <p:nvPr/>
          </p:nvGrpSpPr>
          <p:grpSpPr>
            <a:xfrm>
              <a:off x="4161968" y="294925"/>
              <a:ext cx="1046050" cy="2271011"/>
              <a:chOff x="1170464" y="286375"/>
              <a:chExt cx="1046050" cy="2271011"/>
            </a:xfrm>
          </p:grpSpPr>
          <p:cxnSp>
            <p:nvCxnSpPr>
              <p:cNvPr id="204" name="Google Shape;204;p17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" name="Google Shape;205;p17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17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07" name="Google Shape;207;p17"/>
            <p:cNvCxnSpPr/>
            <p:nvPr/>
          </p:nvCxnSpPr>
          <p:spPr>
            <a:xfrm rot="10800000">
              <a:off x="3690878" y="2977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17"/>
            <p:cNvCxnSpPr/>
            <p:nvPr/>
          </p:nvCxnSpPr>
          <p:spPr>
            <a:xfrm rot="10800000">
              <a:off x="1736128" y="297782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9" name="Google Shape;209;p17"/>
            <p:cNvGrpSpPr/>
            <p:nvPr/>
          </p:nvGrpSpPr>
          <p:grpSpPr>
            <a:xfrm>
              <a:off x="2173718" y="286375"/>
              <a:ext cx="1046050" cy="2271011"/>
              <a:chOff x="1170464" y="286375"/>
              <a:chExt cx="1046050" cy="2271011"/>
            </a:xfrm>
          </p:grpSpPr>
          <p:cxnSp>
            <p:nvCxnSpPr>
              <p:cNvPr id="210" name="Google Shape;210;p17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" name="Google Shape;211;p17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" name="Google Shape;212;p17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3" name="Google Shape;213;p17"/>
            <p:cNvGrpSpPr/>
            <p:nvPr/>
          </p:nvGrpSpPr>
          <p:grpSpPr>
            <a:xfrm>
              <a:off x="6203378" y="294925"/>
              <a:ext cx="1046050" cy="2271011"/>
              <a:chOff x="1170464" y="286375"/>
              <a:chExt cx="1046050" cy="2271011"/>
            </a:xfrm>
          </p:grpSpPr>
          <p:cxnSp>
            <p:nvCxnSpPr>
              <p:cNvPr id="214" name="Google Shape;214;p17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" name="Google Shape;215;p17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" name="Google Shape;216;p17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17" name="Google Shape;217;p17"/>
          <p:cNvSpPr txBox="1"/>
          <p:nvPr/>
        </p:nvSpPr>
        <p:spPr>
          <a:xfrm>
            <a:off x="358153" y="57192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March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4325942" y="57192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April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-1521588" y="433942"/>
            <a:ext cx="7538700" cy="193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" name="Google Shape;220;p17"/>
          <p:cNvCxnSpPr/>
          <p:nvPr/>
        </p:nvCxnSpPr>
        <p:spPr>
          <a:xfrm>
            <a:off x="-993969" y="412367"/>
            <a:ext cx="7026000" cy="5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1" name="Google Shape;221;p17"/>
          <p:cNvSpPr/>
          <p:nvPr/>
        </p:nvSpPr>
        <p:spPr>
          <a:xfrm>
            <a:off x="2174534" y="643613"/>
            <a:ext cx="7431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Workshop 1</a:t>
            </a:r>
            <a:endParaRPr sz="400"/>
          </a:p>
        </p:txBody>
      </p:sp>
      <p:sp>
        <p:nvSpPr>
          <p:cNvPr id="222" name="Google Shape;222;p17"/>
          <p:cNvSpPr/>
          <p:nvPr/>
        </p:nvSpPr>
        <p:spPr>
          <a:xfrm>
            <a:off x="3159572" y="883500"/>
            <a:ext cx="7431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chemeClr val="dk1"/>
                </a:solidFill>
              </a:rPr>
              <a:t>Workshop 2</a:t>
            </a:r>
            <a:endParaRPr sz="400"/>
          </a:p>
        </p:txBody>
      </p:sp>
      <p:sp>
        <p:nvSpPr>
          <p:cNvPr id="223" name="Google Shape;223;p17"/>
          <p:cNvSpPr/>
          <p:nvPr/>
        </p:nvSpPr>
        <p:spPr>
          <a:xfrm>
            <a:off x="4133570" y="1022238"/>
            <a:ext cx="743100" cy="19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chemeClr val="dk1"/>
                </a:solidFill>
              </a:rPr>
              <a:t>Workshop 3</a:t>
            </a:r>
            <a:endParaRPr sz="400"/>
          </a:p>
        </p:txBody>
      </p:sp>
      <p:sp>
        <p:nvSpPr>
          <p:cNvPr id="224" name="Google Shape;224;p17"/>
          <p:cNvSpPr txBox="1"/>
          <p:nvPr/>
        </p:nvSpPr>
        <p:spPr>
          <a:xfrm>
            <a:off x="-886061" y="155717"/>
            <a:ext cx="37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1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32601" y="155717"/>
            <a:ext cx="37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2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1102964" y="155717"/>
            <a:ext cx="37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3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2006564" y="155717"/>
            <a:ext cx="37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4</a:t>
            </a:r>
            <a:endParaRPr sz="700">
              <a:solidFill>
                <a:schemeClr val="dk2"/>
              </a:solidFill>
            </a:endParaRPr>
          </a:p>
        </p:txBody>
      </p:sp>
      <p:grpSp>
        <p:nvGrpSpPr>
          <p:cNvPr id="228" name="Google Shape;228;p17"/>
          <p:cNvGrpSpPr/>
          <p:nvPr/>
        </p:nvGrpSpPr>
        <p:grpSpPr>
          <a:xfrm>
            <a:off x="3120513" y="155717"/>
            <a:ext cx="3266725" cy="292500"/>
            <a:chOff x="1994300" y="198600"/>
            <a:chExt cx="3266725" cy="292500"/>
          </a:xfrm>
        </p:grpSpPr>
        <p:sp>
          <p:nvSpPr>
            <p:cNvPr id="229" name="Google Shape;229;p17"/>
            <p:cNvSpPr txBox="1"/>
            <p:nvPr/>
          </p:nvSpPr>
          <p:spPr>
            <a:xfrm>
              <a:off x="1994300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1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230" name="Google Shape;230;p17"/>
            <p:cNvSpPr txBox="1"/>
            <p:nvPr/>
          </p:nvSpPr>
          <p:spPr>
            <a:xfrm>
              <a:off x="2912963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2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3983325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3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4886925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4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33" name="Google Shape;233;p17"/>
          <p:cNvSpPr/>
          <p:nvPr/>
        </p:nvSpPr>
        <p:spPr>
          <a:xfrm>
            <a:off x="5080205" y="1303775"/>
            <a:ext cx="936900" cy="1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Plan</a:t>
            </a:r>
            <a:r>
              <a:rPr lang="en" sz="400"/>
              <a:t> Session with Finance</a:t>
            </a:r>
            <a:endParaRPr sz="400"/>
          </a:p>
        </p:txBody>
      </p:sp>
      <p:cxnSp>
        <p:nvCxnSpPr>
          <p:cNvPr id="234" name="Google Shape;234;p17"/>
          <p:cNvCxnSpPr/>
          <p:nvPr/>
        </p:nvCxnSpPr>
        <p:spPr>
          <a:xfrm rot="10800000">
            <a:off x="13026079" y="464569"/>
            <a:ext cx="0" cy="43008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17"/>
          <p:cNvGrpSpPr/>
          <p:nvPr/>
        </p:nvGrpSpPr>
        <p:grpSpPr>
          <a:xfrm>
            <a:off x="8442943" y="464470"/>
            <a:ext cx="500336" cy="4300899"/>
            <a:chOff x="1170464" y="286375"/>
            <a:chExt cx="500336" cy="2265300"/>
          </a:xfrm>
        </p:grpSpPr>
        <p:cxnSp>
          <p:nvCxnSpPr>
            <p:cNvPr id="236" name="Google Shape;236;p17"/>
            <p:cNvCxnSpPr/>
            <p:nvPr/>
          </p:nvCxnSpPr>
          <p:spPr>
            <a:xfrm rot="10800000">
              <a:off x="1170464" y="28637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17"/>
            <p:cNvCxnSpPr/>
            <p:nvPr/>
          </p:nvCxnSpPr>
          <p:spPr>
            <a:xfrm rot="10800000">
              <a:off x="1670800" y="28637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38" name="Google Shape;238;p17"/>
          <p:cNvCxnSpPr/>
          <p:nvPr/>
        </p:nvCxnSpPr>
        <p:spPr>
          <a:xfrm rot="10800000">
            <a:off x="7971854" y="470000"/>
            <a:ext cx="0" cy="4300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17"/>
          <p:cNvCxnSpPr/>
          <p:nvPr/>
        </p:nvCxnSpPr>
        <p:spPr>
          <a:xfrm rot="10800000">
            <a:off x="6017104" y="469993"/>
            <a:ext cx="0" cy="4300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240" name="Google Shape;240;p17"/>
          <p:cNvGrpSpPr/>
          <p:nvPr/>
        </p:nvGrpSpPr>
        <p:grpSpPr>
          <a:xfrm>
            <a:off x="6454693" y="448237"/>
            <a:ext cx="1046050" cy="4311741"/>
            <a:chOff x="1170464" y="286375"/>
            <a:chExt cx="1046050" cy="2271011"/>
          </a:xfrm>
        </p:grpSpPr>
        <p:cxnSp>
          <p:nvCxnSpPr>
            <p:cNvPr id="241" name="Google Shape;241;p17"/>
            <p:cNvCxnSpPr/>
            <p:nvPr/>
          </p:nvCxnSpPr>
          <p:spPr>
            <a:xfrm rot="10800000">
              <a:off x="1170464" y="28637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7"/>
            <p:cNvCxnSpPr/>
            <p:nvPr/>
          </p:nvCxnSpPr>
          <p:spPr>
            <a:xfrm rot="10800000">
              <a:off x="1670800" y="28637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7"/>
            <p:cNvCxnSpPr/>
            <p:nvPr/>
          </p:nvCxnSpPr>
          <p:spPr>
            <a:xfrm rot="10800000">
              <a:off x="2216514" y="2920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244" name="Google Shape;244;p17"/>
          <p:cNvSpPr txBox="1"/>
          <p:nvPr/>
        </p:nvSpPr>
        <p:spPr>
          <a:xfrm>
            <a:off x="8217127" y="31030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May</a:t>
            </a:r>
            <a:endParaRPr sz="1000">
              <a:solidFill>
                <a:schemeClr val="dk2"/>
              </a:solidFill>
            </a:endParaRPr>
          </a:p>
        </p:txBody>
      </p:sp>
      <p:grpSp>
        <p:nvGrpSpPr>
          <p:cNvPr id="245" name="Google Shape;245;p17"/>
          <p:cNvGrpSpPr/>
          <p:nvPr/>
        </p:nvGrpSpPr>
        <p:grpSpPr>
          <a:xfrm>
            <a:off x="7011698" y="129555"/>
            <a:ext cx="2363125" cy="292500"/>
            <a:chOff x="1994300" y="198600"/>
            <a:chExt cx="2363125" cy="292500"/>
          </a:xfrm>
        </p:grpSpPr>
        <p:sp>
          <p:nvSpPr>
            <p:cNvPr id="246" name="Google Shape;246;p17"/>
            <p:cNvSpPr txBox="1"/>
            <p:nvPr/>
          </p:nvSpPr>
          <p:spPr>
            <a:xfrm>
              <a:off x="1994300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1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247" name="Google Shape;247;p17"/>
            <p:cNvSpPr txBox="1"/>
            <p:nvPr/>
          </p:nvSpPr>
          <p:spPr>
            <a:xfrm>
              <a:off x="2912963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2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3983325" y="198600"/>
              <a:ext cx="374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3</a:t>
              </a:r>
              <a:endParaRPr sz="7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C9DAF8"/>
                </a:highlight>
              </a:rPr>
              <a:t>Zoho Integrations</a:t>
            </a:r>
            <a:endParaRPr>
              <a:highlight>
                <a:srgbClr val="C9DAF8"/>
              </a:highlight>
            </a:endParaRPr>
          </a:p>
        </p:txBody>
      </p:sp>
      <p:sp>
        <p:nvSpPr>
          <p:cNvPr id="254" name="Google Shape;254;p18"/>
          <p:cNvSpPr txBox="1"/>
          <p:nvPr>
            <p:ph idx="1" type="body"/>
          </p:nvPr>
        </p:nvSpPr>
        <p:spPr>
          <a:xfrm>
            <a:off x="311700" y="1152475"/>
            <a:ext cx="355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/>
              <a:t>4/8/26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 u="sng">
                <a:solidFill>
                  <a:schemeClr val="hlink"/>
                </a:solidFill>
                <a:hlinkClick r:id="rId3"/>
              </a:rPr>
              <a:t>Workshop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Plan Session with Finance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4/2/26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 u="sng">
                <a:solidFill>
                  <a:schemeClr val="hlink"/>
                </a:solidFill>
                <a:hlinkClick r:id="rId4"/>
              </a:rPr>
              <a:t>Workshop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 u="sng">
                <a:solidFill>
                  <a:schemeClr val="hlink"/>
                </a:solidFill>
                <a:hlinkClick r:id="rId5"/>
              </a:rPr>
              <a:t>Figma File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/>
              <a:t>3/26/26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Workshop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Research 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Waiting on mapping Table</a:t>
            </a:r>
            <a:br>
              <a:rPr lang="en" sz="700"/>
            </a:br>
            <a:r>
              <a:rPr b="1" lang="en" sz="700">
                <a:solidFill>
                  <a:srgbClr val="FF0000"/>
                </a:solidFill>
              </a:rPr>
              <a:t>Blocked by following items from Finance Team:</a:t>
            </a:r>
            <a:endParaRPr b="1" sz="700">
              <a:solidFill>
                <a:srgbClr val="FF0000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Char char="○"/>
            </a:pPr>
            <a:r>
              <a:rPr b="1" lang="en" sz="700">
                <a:solidFill>
                  <a:srgbClr val="FF0000"/>
                </a:solidFill>
              </a:rPr>
              <a:t>CargoSprint</a:t>
            </a:r>
            <a:endParaRPr b="1" sz="700">
              <a:solidFill>
                <a:srgbClr val="FF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Sample Scope export files (CSV/XML)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Charge type → account code mapping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VAT code → tax mapping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3/25/26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Research 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Request ChargeType Transformation mapping Table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Sandbox and Dev environment on Zoho And Set Up the Pipeline.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t/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3/24/26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Initial discussion on Zoho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Setup AWS DB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Research for Scope, Rose Rocket, NetCHBCargoSprint, 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Request sample data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3/23/26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Onboarding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4CCCC"/>
                </a:highlight>
              </a:rPr>
              <a:t>Lead Gen - Done</a:t>
            </a:r>
            <a:endParaRPr>
              <a:highlight>
                <a:srgbClr val="F4CCCC"/>
              </a:highlight>
            </a:endParaRPr>
          </a:p>
        </p:txBody>
      </p:sp>
      <p:sp>
        <p:nvSpPr>
          <p:cNvPr id="260" name="Google Shape;260;p19"/>
          <p:cNvSpPr txBox="1"/>
          <p:nvPr>
            <p:ph idx="1" type="body"/>
          </p:nvPr>
        </p:nvSpPr>
        <p:spPr>
          <a:xfrm>
            <a:off x="311700" y="1152475"/>
            <a:ext cx="4021800" cy="3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700"/>
              <a:t>3/26/26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Customs OTI ((Ocean Transportation Intermediary/NVOCC)) List is completed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R</a:t>
            </a:r>
            <a:r>
              <a:rPr lang="en" sz="700"/>
              <a:t>eviewed LinkedIn automation requirements.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700"/>
              <a:t>3/20/26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Started working on OTI contact  list and ongoing data cleaning and structuring.</a:t>
            </a:r>
            <a:endParaRPr sz="700"/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700"/>
              <a:t>3/13/26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Completed </a:t>
            </a:r>
            <a:r>
              <a:rPr lang="en" sz="700"/>
              <a:t>Beyond Clearance </a:t>
            </a:r>
            <a:r>
              <a:rPr lang="en" sz="700"/>
              <a:t>buyer intent GTM contact list.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Worked on Sunbelt route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3/06/26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Completed Gulf strategy route of lead generation (cleaning and enrichment phases)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2/27/26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Completed extracted NATM exhibitor contact list.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2/20/26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Planned next 4 trade routes and aligned on future lead gen strategy.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2/13/26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Completed Phase3 Enrichment and Validation (</a:t>
            </a:r>
            <a:r>
              <a:rPr lang="en" sz="700" u="sng">
                <a:solidFill>
                  <a:schemeClr val="hlink"/>
                </a:solidFill>
                <a:hlinkClick r:id="rId3"/>
              </a:rPr>
              <a:t>Seamless.AI</a:t>
            </a:r>
            <a:r>
              <a:rPr lang="en" sz="700"/>
              <a:t>) Shanghai to Long Beach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Performed advanced cleaning, deduplication, and standardization of lead data</a:t>
            </a:r>
            <a:endParaRPr sz="700"/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/>
              <a:t>2/06/26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Completed Phase3 Enrichment and Validation (</a:t>
            </a:r>
            <a:r>
              <a:rPr lang="en" sz="7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Seamless.AI</a:t>
            </a:r>
            <a:r>
              <a:rPr lang="en" sz="700"/>
              <a:t>) Shanghai to LA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Performed advanced cleaning, deduplication, and standardization of lead data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700"/>
          </a:p>
        </p:txBody>
      </p:sp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4841100" y="1152475"/>
            <a:ext cx="399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/>
              <a:t>1</a:t>
            </a:r>
            <a:r>
              <a:rPr lang="en" sz="700"/>
              <a:t>/30/26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Phase2 Data Cleaning and Qualification is completed for Shanghai to Long Beach and Shanghai to LA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700"/>
            </a:br>
            <a:r>
              <a:rPr lang="en" sz="700"/>
              <a:t>1/23/26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Phase1 Extraction and Filtering (ImportGenius) is completed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For Shanghai to Long Beach and Shanghai to LA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1/16/26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Set up tracking, handled tool issues, and prepared Phase2 readiness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Started Phase1 data extraction and resolved initial tool blockers.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Finalized Phase 1 criteria and aligned with team on execution plan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700"/>
            </a:br>
            <a:r>
              <a:rPr lang="en" sz="700"/>
              <a:t>1/09/26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Gained tool access (ImportGenius, Seamless) and explored data extraction process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Defined search criteria and built initial framework for lead qualification</a:t>
            </a:r>
            <a:endParaRPr sz="7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Planned Phase1 lead generation and prepared for data extraction setup.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/>
              <a:t>1/02/26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Prepared initial lead generation execution readiness plan</a:t>
            </a:r>
            <a:endParaRPr sz="700"/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12/26/25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Aligned with team and initiated lead generation workflow planning.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700"/>
            </a:br>
            <a:r>
              <a:rPr lang="en" sz="700"/>
              <a:t>12/19/25</a:t>
            </a:r>
            <a:endParaRPr sz="700"/>
          </a:p>
          <a:p>
            <a:pPr indent="-2730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Reviewed lead generation plan and understood overall workflow.</a:t>
            </a:r>
            <a:endParaRPr sz="7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/>
          <p:nvPr/>
        </p:nvSpPr>
        <p:spPr>
          <a:xfrm>
            <a:off x="612494" y="2031375"/>
            <a:ext cx="432000" cy="1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619101" y="458375"/>
            <a:ext cx="418800" cy="193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625700" y="751525"/>
            <a:ext cx="418800" cy="193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612501" y="1562525"/>
            <a:ext cx="517500" cy="193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270" name="Google Shape;270;p20"/>
          <p:cNvSpPr/>
          <p:nvPr/>
        </p:nvSpPr>
        <p:spPr>
          <a:xfrm>
            <a:off x="621350" y="1297273"/>
            <a:ext cx="414300" cy="19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20"/>
          <p:cNvGrpSpPr/>
          <p:nvPr/>
        </p:nvGrpSpPr>
        <p:grpSpPr>
          <a:xfrm>
            <a:off x="1736128" y="286375"/>
            <a:ext cx="7008975" cy="2279561"/>
            <a:chOff x="1736128" y="286375"/>
            <a:chExt cx="7008975" cy="2279561"/>
          </a:xfrm>
        </p:grpSpPr>
        <p:cxnSp>
          <p:nvCxnSpPr>
            <p:cNvPr id="272" name="Google Shape;272;p20"/>
            <p:cNvCxnSpPr/>
            <p:nvPr/>
          </p:nvCxnSpPr>
          <p:spPr>
            <a:xfrm rot="10800000">
              <a:off x="5732289" y="2977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20"/>
            <p:cNvCxnSpPr/>
            <p:nvPr/>
          </p:nvCxnSpPr>
          <p:spPr>
            <a:xfrm rot="10800000">
              <a:off x="8244768" y="29492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20"/>
            <p:cNvCxnSpPr/>
            <p:nvPr/>
          </p:nvCxnSpPr>
          <p:spPr>
            <a:xfrm rot="10800000">
              <a:off x="7773678" y="2977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20"/>
            <p:cNvCxnSpPr/>
            <p:nvPr/>
          </p:nvCxnSpPr>
          <p:spPr>
            <a:xfrm rot="10800000">
              <a:off x="8745103" y="294925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rgbClr val="CCCCCC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grpSp>
          <p:nvGrpSpPr>
            <p:cNvPr id="276" name="Google Shape;276;p20"/>
            <p:cNvGrpSpPr/>
            <p:nvPr/>
          </p:nvGrpSpPr>
          <p:grpSpPr>
            <a:xfrm>
              <a:off x="4161968" y="294925"/>
              <a:ext cx="1046050" cy="2271011"/>
              <a:chOff x="1170464" y="286375"/>
              <a:chExt cx="1046050" cy="2271011"/>
            </a:xfrm>
          </p:grpSpPr>
          <p:cxnSp>
            <p:nvCxnSpPr>
              <p:cNvPr id="277" name="Google Shape;277;p20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" name="Google Shape;278;p20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" name="Google Shape;279;p20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80" name="Google Shape;280;p20"/>
            <p:cNvCxnSpPr/>
            <p:nvPr/>
          </p:nvCxnSpPr>
          <p:spPr>
            <a:xfrm rot="10800000">
              <a:off x="3690878" y="297786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20"/>
            <p:cNvCxnSpPr/>
            <p:nvPr/>
          </p:nvCxnSpPr>
          <p:spPr>
            <a:xfrm rot="10800000">
              <a:off x="1736128" y="297782"/>
              <a:ext cx="0" cy="22653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82" name="Google Shape;282;p20"/>
            <p:cNvGrpSpPr/>
            <p:nvPr/>
          </p:nvGrpSpPr>
          <p:grpSpPr>
            <a:xfrm>
              <a:off x="2173718" y="286375"/>
              <a:ext cx="1046050" cy="2271011"/>
              <a:chOff x="1170464" y="286375"/>
              <a:chExt cx="1046050" cy="2271011"/>
            </a:xfrm>
          </p:grpSpPr>
          <p:cxnSp>
            <p:nvCxnSpPr>
              <p:cNvPr id="283" name="Google Shape;283;p20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20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20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86" name="Google Shape;286;p20"/>
            <p:cNvGrpSpPr/>
            <p:nvPr/>
          </p:nvGrpSpPr>
          <p:grpSpPr>
            <a:xfrm>
              <a:off x="6203378" y="294925"/>
              <a:ext cx="1046050" cy="2271011"/>
              <a:chOff x="1170464" y="286375"/>
              <a:chExt cx="1046050" cy="2271011"/>
            </a:xfrm>
          </p:grpSpPr>
          <p:cxnSp>
            <p:nvCxnSpPr>
              <p:cNvPr id="287" name="Google Shape;287;p20"/>
              <p:cNvCxnSpPr/>
              <p:nvPr/>
            </p:nvCxnSpPr>
            <p:spPr>
              <a:xfrm rot="10800000">
                <a:off x="1170464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" name="Google Shape;288;p20"/>
              <p:cNvCxnSpPr/>
              <p:nvPr/>
            </p:nvCxnSpPr>
            <p:spPr>
              <a:xfrm rot="10800000">
                <a:off x="1670800" y="286375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" name="Google Shape;289;p20"/>
              <p:cNvCxnSpPr/>
              <p:nvPr/>
            </p:nvCxnSpPr>
            <p:spPr>
              <a:xfrm rot="10800000">
                <a:off x="2216514" y="292086"/>
                <a:ext cx="0" cy="2265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CCCC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90" name="Google Shape;290;p20"/>
          <p:cNvSpPr/>
          <p:nvPr/>
        </p:nvSpPr>
        <p:spPr>
          <a:xfrm>
            <a:off x="5211428" y="2031375"/>
            <a:ext cx="2590800" cy="1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660944" y="2070898"/>
            <a:ext cx="335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B7B7B7"/>
                </a:solidFill>
              </a:rPr>
              <a:t>AI SDR</a:t>
            </a:r>
            <a:endParaRPr b="1" sz="600">
              <a:solidFill>
                <a:srgbClr val="B7B7B7"/>
              </a:solidFill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1841903" y="2716100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March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3433428" y="2688625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April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4765078" y="2688625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6096728" y="2716100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June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7481753" y="2716100"/>
            <a:ext cx="7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July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2701675" y="433152"/>
            <a:ext cx="2966700" cy="193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2754370" y="483538"/>
            <a:ext cx="678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Zoho Integrations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1206375" y="751525"/>
            <a:ext cx="2226900" cy="193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679207" y="788750"/>
            <a:ext cx="37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Aulintri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5211426" y="1644775"/>
            <a:ext cx="1547100" cy="193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302" name="Google Shape;302;p20"/>
          <p:cNvSpPr txBox="1"/>
          <p:nvPr/>
        </p:nvSpPr>
        <p:spPr>
          <a:xfrm>
            <a:off x="7802225" y="0"/>
            <a:ext cx="139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Planning with Shiv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3915326" y="483551"/>
            <a:ext cx="970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3"/>
              </a:rPr>
              <a:t>3/25/26 Zoho </a:t>
            </a:r>
            <a:r>
              <a:rPr lang="en" sz="600">
                <a:solidFill>
                  <a:srgbClr val="FF0000"/>
                </a:solidFill>
              </a:rPr>
              <a:t>to Scope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5282139" y="2078996"/>
            <a:ext cx="1885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7B7B7"/>
                </a:solidFill>
              </a:rPr>
              <a:t>3/25/26 AISDR blocked by Marketing/Sales</a:t>
            </a:r>
            <a:endParaRPr sz="600">
              <a:solidFill>
                <a:srgbClr val="B7B7B7"/>
              </a:solidFill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1206376" y="1297273"/>
            <a:ext cx="2026800" cy="19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1506189" y="1339648"/>
            <a:ext cx="335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LeadGen</a:t>
            </a:r>
            <a:endParaRPr b="1" sz="600">
              <a:solidFill>
                <a:schemeClr val="dk2"/>
              </a:solidFill>
            </a:endParaRPr>
          </a:p>
        </p:txBody>
      </p:sp>
      <p:cxnSp>
        <p:nvCxnSpPr>
          <p:cNvPr id="307" name="Google Shape;307;p20"/>
          <p:cNvCxnSpPr/>
          <p:nvPr/>
        </p:nvCxnSpPr>
        <p:spPr>
          <a:xfrm>
            <a:off x="1733993" y="302850"/>
            <a:ext cx="7026000" cy="5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08" name="Google Shape;308;p20"/>
          <p:cNvSpPr txBox="1"/>
          <p:nvPr/>
        </p:nvSpPr>
        <p:spPr>
          <a:xfrm>
            <a:off x="546275" y="3278600"/>
            <a:ext cx="88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Minh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E1 - Shiv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E2 - Lakshita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E3 - Keshav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492579" y="3880225"/>
            <a:ext cx="79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TBD: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RakSiam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+2 Dev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290721" y="3409525"/>
            <a:ext cx="102300" cy="88800"/>
          </a:xfrm>
          <a:prstGeom prst="rect">
            <a:avLst/>
          </a:prstGeom>
          <a:solidFill>
            <a:srgbClr val="A2C4C9"/>
          </a:solidFill>
          <a:ln cap="flat" cmpd="sng" w="7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00" lIns="69400" spcFirstLastPara="1" rIns="69400" wrap="square" tIns="6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3"/>
          </a:p>
        </p:txBody>
      </p:sp>
      <p:sp>
        <p:nvSpPr>
          <p:cNvPr id="311" name="Google Shape;311;p20"/>
          <p:cNvSpPr/>
          <p:nvPr/>
        </p:nvSpPr>
        <p:spPr>
          <a:xfrm>
            <a:off x="289070" y="3518272"/>
            <a:ext cx="102300" cy="88800"/>
          </a:xfrm>
          <a:prstGeom prst="rect">
            <a:avLst/>
          </a:prstGeom>
          <a:solidFill>
            <a:srgbClr val="C9DAF8"/>
          </a:solidFill>
          <a:ln cap="flat" cmpd="sng" w="7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00" lIns="69400" spcFirstLastPara="1" rIns="69400" wrap="square" tIns="6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3"/>
          </a:p>
        </p:txBody>
      </p:sp>
      <p:sp>
        <p:nvSpPr>
          <p:cNvPr id="312" name="Google Shape;312;p20"/>
          <p:cNvSpPr/>
          <p:nvPr/>
        </p:nvSpPr>
        <p:spPr>
          <a:xfrm>
            <a:off x="289070" y="3633661"/>
            <a:ext cx="102300" cy="88800"/>
          </a:xfrm>
          <a:prstGeom prst="rect">
            <a:avLst/>
          </a:prstGeom>
          <a:solidFill>
            <a:srgbClr val="A2C4C9"/>
          </a:solidFill>
          <a:ln cap="flat" cmpd="sng" w="7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00" lIns="69400" spcFirstLastPara="1" rIns="69400" wrap="square" tIns="6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3"/>
          </a:p>
        </p:txBody>
      </p:sp>
      <p:sp>
        <p:nvSpPr>
          <p:cNvPr id="313" name="Google Shape;313;p20"/>
          <p:cNvSpPr/>
          <p:nvPr/>
        </p:nvSpPr>
        <p:spPr>
          <a:xfrm>
            <a:off x="289070" y="3743271"/>
            <a:ext cx="102300" cy="88800"/>
          </a:xfrm>
          <a:prstGeom prst="rect">
            <a:avLst/>
          </a:prstGeom>
          <a:solidFill>
            <a:srgbClr val="D5A6BD"/>
          </a:solidFill>
          <a:ln cap="flat" cmpd="sng" w="7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00" lIns="69400" spcFirstLastPara="1" rIns="69400" wrap="square" tIns="6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3"/>
          </a:p>
        </p:txBody>
      </p:sp>
      <p:sp>
        <p:nvSpPr>
          <p:cNvPr id="314" name="Google Shape;314;p20"/>
          <p:cNvSpPr/>
          <p:nvPr/>
        </p:nvSpPr>
        <p:spPr>
          <a:xfrm>
            <a:off x="429982" y="3633661"/>
            <a:ext cx="102300" cy="88800"/>
          </a:xfrm>
          <a:prstGeom prst="rect">
            <a:avLst/>
          </a:prstGeom>
          <a:solidFill>
            <a:srgbClr val="F4CCCC"/>
          </a:solidFill>
          <a:ln cap="flat" cmpd="sng" w="7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00" lIns="69400" spcFirstLastPara="1" rIns="69400" wrap="square" tIns="6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3"/>
          </a:p>
        </p:txBody>
      </p:sp>
      <p:sp>
        <p:nvSpPr>
          <p:cNvPr id="315" name="Google Shape;315;p20"/>
          <p:cNvSpPr txBox="1"/>
          <p:nvPr/>
        </p:nvSpPr>
        <p:spPr>
          <a:xfrm>
            <a:off x="136605" y="498144"/>
            <a:ext cx="374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Lakshita</a:t>
            </a:r>
            <a:br>
              <a:rPr lang="en" sz="600">
                <a:solidFill>
                  <a:schemeClr val="dk2"/>
                </a:solidFill>
              </a:rPr>
            </a:br>
            <a:r>
              <a:rPr lang="en" sz="600">
                <a:solidFill>
                  <a:schemeClr val="dk2"/>
                </a:solidFill>
              </a:rPr>
              <a:t>Minh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156125" y="767992"/>
            <a:ext cx="374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Shiv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Keshav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156125" y="1339659"/>
            <a:ext cx="374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Lakshita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162173" y="1575261"/>
            <a:ext cx="374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Keshav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Lakshita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1935076" y="801926"/>
            <a:ext cx="970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4 week Sprint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3457619" y="751550"/>
            <a:ext cx="888300" cy="193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3699775" y="801925"/>
            <a:ext cx="600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PSC for Latoria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4141676" y="980150"/>
            <a:ext cx="970500" cy="193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4285825" y="1030525"/>
            <a:ext cx="600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Saas Platform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5136526" y="980150"/>
            <a:ext cx="970500" cy="193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5280675" y="1030525"/>
            <a:ext cx="600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Saas Platform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6131376" y="980150"/>
            <a:ext cx="970500" cy="193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275525" y="1030525"/>
            <a:ext cx="600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Saas Platform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7142137" y="979045"/>
            <a:ext cx="970500" cy="193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7286287" y="1029420"/>
            <a:ext cx="600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Saas Platform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5211430" y="1695175"/>
            <a:ext cx="471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BI Platform</a:t>
            </a:r>
            <a:endParaRPr b="1"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